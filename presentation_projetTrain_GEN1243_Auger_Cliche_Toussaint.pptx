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sldIdLst>
    <p:sldId id="256" r:id="rId5"/>
    <p:sldId id="257" r:id="rId6"/>
    <p:sldId id="263" r:id="rId7"/>
    <p:sldId id="258" r:id="rId8"/>
    <p:sldId id="261" r:id="rId9"/>
    <p:sldId id="262" r:id="rId10"/>
    <p:sldId id="260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29E31-A672-4FC1-8CF5-C906D6AE83B6}" v="8" dt="2024-11-26T18:15:56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2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8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0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4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4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8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5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3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11/27/2024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8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0E728E6-A07E-4A6C-AB92-D56E1402F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e image contenant mur, intérieur, art&#10;&#10;Description générée automatiquement">
            <a:extLst>
              <a:ext uri="{FF2B5EF4-FFF2-40B4-BE49-F238E27FC236}">
                <a16:creationId xmlns:a16="http://schemas.microsoft.com/office/drawing/2014/main" id="{8D6AD57C-FF31-F79F-2568-43067B922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7" r="15899" b="-1"/>
          <a:stretch/>
        </p:blipFill>
        <p:spPr bwMode="auto">
          <a:xfrm rot="16200000">
            <a:off x="2666164" y="-2666164"/>
            <a:ext cx="6856624" cy="1218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BAA2E5C-7959-CB14-4A70-DB346DCBB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fr-CA" sz="5400">
                <a:solidFill>
                  <a:srgbClr val="FFFFFF"/>
                </a:solidFill>
              </a:rPr>
              <a:t>Système automatisé de gestion d’un passage à niveau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313677-DB2E-45C0-492A-BC45B0789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662677"/>
          </a:xfrm>
        </p:spPr>
        <p:txBody>
          <a:bodyPr anchor="t">
            <a:normAutofit/>
          </a:bodyPr>
          <a:lstStyle/>
          <a:p>
            <a:r>
              <a:rPr lang="fr-CA" sz="2200" dirty="0">
                <a:solidFill>
                  <a:srgbClr val="FFFFFF"/>
                </a:solidFill>
              </a:rPr>
              <a:t>Par Laurianne Auger, </a:t>
            </a:r>
            <a:r>
              <a:rPr lang="fr-CA" sz="2200" dirty="0" err="1">
                <a:solidFill>
                  <a:srgbClr val="FFFFFF"/>
                </a:solidFill>
              </a:rPr>
              <a:t>Bekobo</a:t>
            </a:r>
            <a:r>
              <a:rPr lang="fr-CA" sz="2200" dirty="0">
                <a:solidFill>
                  <a:srgbClr val="FFFFFF"/>
                </a:solidFill>
              </a:rPr>
              <a:t> </a:t>
            </a:r>
            <a:r>
              <a:rPr lang="fr-CA" sz="2200" dirty="0" err="1">
                <a:solidFill>
                  <a:srgbClr val="FFFFFF"/>
                </a:solidFill>
              </a:rPr>
              <a:t>Nguedi</a:t>
            </a:r>
            <a:r>
              <a:rPr lang="fr-CA" sz="2200" dirty="0">
                <a:solidFill>
                  <a:srgbClr val="FFFFFF"/>
                </a:solidFill>
              </a:rPr>
              <a:t> Ariel Toussaint &amp; Antoine Cliche</a:t>
            </a:r>
          </a:p>
        </p:txBody>
      </p:sp>
      <p:grpSp>
        <p:nvGrpSpPr>
          <p:cNvPr id="1037" name="Top Left">
            <a:extLst>
              <a:ext uri="{FF2B5EF4-FFF2-40B4-BE49-F238E27FC236}">
                <a16:creationId xmlns:a16="http://schemas.microsoft.com/office/drawing/2014/main" id="{18579DB9-24B0-487B-81E3-8D02AD5F8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7180CB2C-161F-4538-9214-24AF97B01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EE25AFBE-8731-4348-B66F-FD7E38F7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5F6C27D8-4E47-470F-B6B5-407CE7D1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66348964-B561-445E-A6A4-730FBA42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C5D1A3FD-B031-4670-8F09-29E8E38D4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80BD3287-1860-4987-8CA5-8728EDBB6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E1FEEEA6-82B5-4005-A3D5-FC2A152F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5C0E6139-8A19-4905-87E2-E547D7B7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23216" y="3924272"/>
            <a:ext cx="118872" cy="118872"/>
            <a:chOff x="1175347" y="3733800"/>
            <a:chExt cx="118872" cy="118872"/>
          </a:xfrm>
        </p:grpSpPr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BC05FFBD-B86A-4BD3-A147-FA95CE03C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EB69F8B1-78FB-4562-8A0D-8D2963675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50" name="Bottom Right">
            <a:extLst>
              <a:ext uri="{FF2B5EF4-FFF2-40B4-BE49-F238E27FC236}">
                <a16:creationId xmlns:a16="http://schemas.microsoft.com/office/drawing/2014/main" id="{8F281804-17FE-49B9-9065-1A44CD47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051" name="Graphic 157">
              <a:extLst>
                <a:ext uri="{FF2B5EF4-FFF2-40B4-BE49-F238E27FC236}">
                  <a16:creationId xmlns:a16="http://schemas.microsoft.com/office/drawing/2014/main" id="{737BB70B-7AAF-4229-8400-5AFF12A23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9B992201-AA48-4BE7-ADC2-908B16934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840E3649-4ED2-4501-AF92-DEC3DFF5C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68B38FD5-4195-4693-8AB7-D01C58D21E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F0635352-3FD2-43A8-832C-705F1CB917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FBEAF61E-74F7-41BA-9576-39B196150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B31D9B5-1401-4F40-BEE6-D492919954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8EDD38F5-BC63-401D-8C72-8D41A360A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05CE5B18-7300-438F-80EB-4F4E431C8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6C5934D8-4FFA-33AE-1204-0C537567294D}"/>
              </a:ext>
            </a:extLst>
          </p:cNvPr>
          <p:cNvSpPr txBox="1"/>
          <p:nvPr/>
        </p:nvSpPr>
        <p:spPr>
          <a:xfrm>
            <a:off x="2666164" y="8303893"/>
            <a:ext cx="6856624" cy="121889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CA" sz="1300">
                <a:solidFill>
                  <a:srgbClr val="FFFFFF"/>
                </a:solidFill>
              </a:rPr>
              <a:t>Conception de systèmes digitaux (GEN1243), UQO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F54A82A-1F5B-ECF8-A31F-EB17CDC25583}"/>
              </a:ext>
            </a:extLst>
          </p:cNvPr>
          <p:cNvSpPr txBox="1"/>
          <p:nvPr/>
        </p:nvSpPr>
        <p:spPr>
          <a:xfrm>
            <a:off x="9588607" y="6255938"/>
            <a:ext cx="2722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GEN1243 Conception de systèmes digitaux, UQO</a:t>
            </a:r>
          </a:p>
        </p:txBody>
      </p:sp>
    </p:spTree>
    <p:extLst>
      <p:ext uri="{BB962C8B-B14F-4D97-AF65-F5344CB8AC3E}">
        <p14:creationId xmlns:p14="http://schemas.microsoft.com/office/powerpoint/2010/main" val="333430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A73BFE-F10E-7F80-E454-4568C977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Matériel utilisé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8265F5-6A6C-A0F9-7688-9E749ADAF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005"/>
          </a:xfrm>
        </p:spPr>
        <p:txBody>
          <a:bodyPr>
            <a:normAutofit lnSpcReduction="10000"/>
          </a:bodyPr>
          <a:lstStyle/>
          <a:p>
            <a:r>
              <a:rPr lang="fr-CA" dirty="0"/>
              <a:t>Carte de développement DE1-SoC avec FPGA Cyclone V</a:t>
            </a:r>
          </a:p>
          <a:p>
            <a:r>
              <a:rPr lang="fr-CA" dirty="0"/>
              <a:t>Pédale x2</a:t>
            </a:r>
          </a:p>
          <a:p>
            <a:r>
              <a:rPr lang="fr-CA" dirty="0"/>
              <a:t>Capteur infrarouge </a:t>
            </a:r>
            <a:r>
              <a:rPr lang="fr-CA" sz="2400" dirty="0"/>
              <a:t>(PIR HC-SR501)</a:t>
            </a:r>
          </a:p>
          <a:p>
            <a:r>
              <a:rPr lang="fr-CA" dirty="0"/>
              <a:t>Capteur ultrason </a:t>
            </a:r>
            <a:r>
              <a:rPr lang="fr-CA" sz="2400" dirty="0"/>
              <a:t>(</a:t>
            </a:r>
            <a:r>
              <a:rPr lang="fr-FR" sz="2400" dirty="0">
                <a:solidFill>
                  <a:srgbClr val="262626"/>
                </a:solidFill>
                <a:effectLst/>
                <a:ea typeface="Aptos" panose="020B0004020202020204" pitchFamily="34" charset="0"/>
              </a:rPr>
              <a:t>HC-SR04</a:t>
            </a:r>
            <a:r>
              <a:rPr lang="fr-CA" sz="2400" dirty="0"/>
              <a:t>)</a:t>
            </a:r>
          </a:p>
          <a:p>
            <a:r>
              <a:rPr lang="fr-CA" dirty="0"/>
              <a:t>Servo-moteur micro HDD servo</a:t>
            </a:r>
          </a:p>
          <a:p>
            <a:r>
              <a:rPr lang="fr-CA" dirty="0"/>
              <a:t> </a:t>
            </a:r>
            <a:r>
              <a:rPr lang="fr-CA" dirty="0" err="1"/>
              <a:t>DELs</a:t>
            </a:r>
            <a:r>
              <a:rPr lang="fr-CA" dirty="0"/>
              <a:t> x5</a:t>
            </a:r>
          </a:p>
          <a:p>
            <a:r>
              <a:rPr lang="fr-CA" dirty="0"/>
              <a:t>Buzzer passif x2</a:t>
            </a:r>
          </a:p>
          <a:p>
            <a:r>
              <a:rPr lang="fr-CA" dirty="0"/>
              <a:t>Interrupteurs x4, </a:t>
            </a:r>
            <a:r>
              <a:rPr lang="fr-CA" dirty="0" err="1"/>
              <a:t>DELs</a:t>
            </a:r>
            <a:r>
              <a:rPr lang="fr-CA" dirty="0"/>
              <a:t> x4 et afficheurs 7 segments x4 de la carte de développement</a:t>
            </a:r>
          </a:p>
        </p:txBody>
      </p:sp>
      <p:sp>
        <p:nvSpPr>
          <p:cNvPr id="4" name="Accolade fermante 3">
            <a:extLst>
              <a:ext uri="{FF2B5EF4-FFF2-40B4-BE49-F238E27FC236}">
                <a16:creationId xmlns:a16="http://schemas.microsoft.com/office/drawing/2014/main" id="{144E0C39-E6EB-BB54-7E92-399529C93CA4}"/>
              </a:ext>
            </a:extLst>
          </p:cNvPr>
          <p:cNvSpPr/>
          <p:nvPr/>
        </p:nvSpPr>
        <p:spPr>
          <a:xfrm>
            <a:off x="6439711" y="2286000"/>
            <a:ext cx="359923" cy="1143000"/>
          </a:xfrm>
          <a:prstGeom prst="righ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57100D42-8ABF-1968-3024-5E2447959F64}"/>
              </a:ext>
            </a:extLst>
          </p:cNvPr>
          <p:cNvSpPr/>
          <p:nvPr/>
        </p:nvSpPr>
        <p:spPr>
          <a:xfrm>
            <a:off x="6478623" y="3429000"/>
            <a:ext cx="321012" cy="571500"/>
          </a:xfrm>
          <a:prstGeom prst="rightBrace">
            <a:avLst>
              <a:gd name="adj1" fmla="val 8333"/>
              <a:gd name="adj2" fmla="val 53404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D94C71-B5F5-6C2C-43FE-83D067021DDB}"/>
              </a:ext>
            </a:extLst>
          </p:cNvPr>
          <p:cNvSpPr txBox="1"/>
          <p:nvPr/>
        </p:nvSpPr>
        <p:spPr>
          <a:xfrm>
            <a:off x="6799634" y="2672834"/>
            <a:ext cx="2645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Détection du train</a:t>
            </a:r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Détection des obstacles</a:t>
            </a:r>
          </a:p>
        </p:txBody>
      </p:sp>
    </p:spTree>
    <p:extLst>
      <p:ext uri="{BB962C8B-B14F-4D97-AF65-F5344CB8AC3E}">
        <p14:creationId xmlns:p14="http://schemas.microsoft.com/office/powerpoint/2010/main" val="403494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248F-041F-42CE-71EC-B57477F9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7791E-94CA-F8AA-7046-CAD45515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Fonctionnement général du système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9ED5DA-B744-4063-628C-414BE4B36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Activation et désactivation du système à l’aide d’un code PIN</a:t>
            </a:r>
          </a:p>
          <a:p>
            <a:r>
              <a:rPr lang="fr-CA" dirty="0"/>
              <a:t>Détection des obstacles par la lumière orange</a:t>
            </a:r>
          </a:p>
          <a:p>
            <a:r>
              <a:rPr lang="fr-CA" dirty="0"/>
              <a:t>Délais de détection</a:t>
            </a:r>
          </a:p>
          <a:p>
            <a:pPr lvl="1"/>
            <a:r>
              <a:rPr lang="fr-CA" dirty="0"/>
              <a:t>Détection d’obstacle de 1 à 3s après que le train est détecté</a:t>
            </a:r>
          </a:p>
          <a:p>
            <a:pPr lvl="1"/>
            <a:r>
              <a:rPr lang="fr-CA" dirty="0"/>
              <a:t>Détection du contact de la barrière 1s après que le signal de barrière est activé</a:t>
            </a:r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7833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E26001-A8BE-4BF6-F102-25B4C675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Fonctionnement du système: cas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2BA5A-D036-BB72-90C9-641D96274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S’il n’y a aucun train,</a:t>
            </a:r>
          </a:p>
          <a:p>
            <a:pPr lvl="1"/>
            <a:r>
              <a:rPr lang="fr-CA" dirty="0"/>
              <a:t>Feu de signalisation vert pour les voitures</a:t>
            </a:r>
          </a:p>
          <a:p>
            <a:pPr lvl="1"/>
            <a:r>
              <a:rPr lang="fr-CA" dirty="0"/>
              <a:t>Message « go » pour les voitures</a:t>
            </a:r>
          </a:p>
          <a:p>
            <a:pPr lvl="1"/>
            <a:r>
              <a:rPr lang="fr-CA" dirty="0"/>
              <a:t>Barrière ouverte</a:t>
            </a:r>
          </a:p>
          <a:p>
            <a:pPr lvl="1"/>
            <a:r>
              <a:rPr lang="fr-CA" dirty="0"/>
              <a:t>Détection des obstacles par la lumière orange</a:t>
            </a:r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005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4EF0-C6E6-A6A8-6838-E63D64C9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7CA1D-E8A2-FC31-7610-0FA7E22D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Fonctionnement du système: cas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39A469-4839-F0E6-53B8-D4AFC4A38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fr-CA" dirty="0"/>
              <a:t>S’il y a un train et aucun obstacle,</a:t>
            </a:r>
          </a:p>
          <a:p>
            <a:pPr lvl="1"/>
            <a:r>
              <a:rPr lang="fr-CA" dirty="0"/>
              <a:t>Feu de signalisation rouge pour les voitures</a:t>
            </a:r>
          </a:p>
          <a:p>
            <a:pPr lvl="1"/>
            <a:r>
              <a:rPr lang="fr-CA" dirty="0"/>
              <a:t>Message « </a:t>
            </a:r>
            <a:r>
              <a:rPr lang="fr-CA" dirty="0" err="1"/>
              <a:t>StOP</a:t>
            </a:r>
            <a:r>
              <a:rPr lang="fr-CA" dirty="0"/>
              <a:t> » pour les voitures</a:t>
            </a:r>
          </a:p>
          <a:p>
            <a:pPr lvl="1"/>
            <a:r>
              <a:rPr lang="fr-CA" dirty="0"/>
              <a:t>Buzzer activé pour les voitures</a:t>
            </a:r>
          </a:p>
          <a:p>
            <a:pPr lvl="1"/>
            <a:r>
              <a:rPr lang="fr-CA" dirty="0"/>
              <a:t>Barrière abaissée</a:t>
            </a:r>
          </a:p>
          <a:p>
            <a:r>
              <a:rPr lang="fr-CA" dirty="0"/>
              <a:t>Si la barrière est bien abaissée,</a:t>
            </a:r>
          </a:p>
          <a:p>
            <a:pPr lvl="1"/>
            <a:r>
              <a:rPr lang="fr-CA" dirty="0"/>
              <a:t>Feu de signalisation vert pour le train</a:t>
            </a:r>
          </a:p>
          <a:p>
            <a:r>
              <a:rPr lang="fr-CA" dirty="0"/>
              <a:t>Si la barrière est mal abaissée,</a:t>
            </a:r>
          </a:p>
          <a:p>
            <a:pPr lvl="1"/>
            <a:r>
              <a:rPr lang="fr-CA" dirty="0"/>
              <a:t>Feu de signalisation rouge clignotant pour le train</a:t>
            </a:r>
          </a:p>
          <a:p>
            <a:pPr lvl="1"/>
            <a:r>
              <a:rPr lang="fr-CA" dirty="0"/>
              <a:t>Buzzer activé pour les voitures</a:t>
            </a:r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17540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8398F-7BF3-421A-D32F-C8E6F618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C5735-78BF-2971-2084-33824709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Fonctionnement du système: cas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A12BEC-7A22-33D9-7006-D228C550E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fr-CA" dirty="0"/>
              <a:t>S’il y a un train et un obstacle,</a:t>
            </a:r>
          </a:p>
          <a:p>
            <a:pPr lvl="1"/>
            <a:r>
              <a:rPr lang="fr-CA" dirty="0"/>
              <a:t>Feu de signalisation rouge pour les voitures</a:t>
            </a:r>
          </a:p>
          <a:p>
            <a:pPr lvl="1"/>
            <a:r>
              <a:rPr lang="fr-CA" dirty="0"/>
              <a:t>Message « </a:t>
            </a:r>
            <a:r>
              <a:rPr lang="fr-CA" dirty="0" err="1"/>
              <a:t>StOP</a:t>
            </a:r>
            <a:r>
              <a:rPr lang="fr-CA" dirty="0"/>
              <a:t> » pour les voitures</a:t>
            </a:r>
          </a:p>
          <a:p>
            <a:pPr lvl="1"/>
            <a:r>
              <a:rPr lang="fr-CA" dirty="0"/>
              <a:t>Buzzer activé pour les voitures</a:t>
            </a:r>
          </a:p>
          <a:p>
            <a:pPr lvl="1"/>
            <a:r>
              <a:rPr lang="fr-CA" dirty="0"/>
              <a:t>Barrière levée</a:t>
            </a:r>
          </a:p>
          <a:p>
            <a:pPr lvl="1"/>
            <a:r>
              <a:rPr lang="fr-CA" dirty="0"/>
              <a:t>Feu de signalisation rouge clignotant pour le train</a:t>
            </a:r>
          </a:p>
          <a:p>
            <a:pPr lvl="1"/>
            <a:r>
              <a:rPr lang="fr-CA" dirty="0"/>
              <a:t>Buzzer activé pour les voitures</a:t>
            </a:r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1761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90C280-9EB5-A8BB-F723-B5A15538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Idées d’amélioration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B97198-C339-F37A-EF3C-EDF52CFD4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Faire une plus grande maquette pour accommoder plus de capteurs, une meilleure disposition des signaux et ajouter une route et un chemin de fer à deux sens</a:t>
            </a:r>
          </a:p>
          <a:p>
            <a:r>
              <a:rPr lang="fr-CA" dirty="0"/>
              <a:t>Ajouter un module permettant d’envoyer un message à la personne de garde s’il y a un problème avec le système ou s’il y a un arrêt d’urgence du train</a:t>
            </a:r>
          </a:p>
        </p:txBody>
      </p:sp>
    </p:spTree>
    <p:extLst>
      <p:ext uri="{BB962C8B-B14F-4D97-AF65-F5344CB8AC3E}">
        <p14:creationId xmlns:p14="http://schemas.microsoft.com/office/powerpoint/2010/main" val="2772241669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a55f72-7012-4956-81bf-27932ce3fcc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C1DCA7F33E884BB2A25D97881F98CB" ma:contentTypeVersion="15" ma:contentTypeDescription="Crée un document." ma:contentTypeScope="" ma:versionID="9e5035749c8b5a33f42146e2fa75f325">
  <xsd:schema xmlns:xsd="http://www.w3.org/2001/XMLSchema" xmlns:xs="http://www.w3.org/2001/XMLSchema" xmlns:p="http://schemas.microsoft.com/office/2006/metadata/properties" xmlns:ns3="eda55f72-7012-4956-81bf-27932ce3fccd" xmlns:ns4="bcb55716-5db2-4650-9b03-dc1f6bf7187f" targetNamespace="http://schemas.microsoft.com/office/2006/metadata/properties" ma:root="true" ma:fieldsID="3e8e3b14181b1b9f66c65807284652ba" ns3:_="" ns4:_="">
    <xsd:import namespace="eda55f72-7012-4956-81bf-27932ce3fccd"/>
    <xsd:import namespace="bcb55716-5db2-4650-9b03-dc1f6bf718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a55f72-7012-4956-81bf-27932ce3fc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55716-5db2-4650-9b03-dc1f6bf7187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FA29F2-B3F5-47C8-8F13-E56524C0F3D0}">
  <ds:schemaRefs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bcb55716-5db2-4650-9b03-dc1f6bf7187f"/>
    <ds:schemaRef ds:uri="http://schemas.microsoft.com/office/2006/documentManagement/types"/>
    <ds:schemaRef ds:uri="eda55f72-7012-4956-81bf-27932ce3fcc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8AA0DF1-8A7C-43FB-BEDF-E4FE9C1A20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BA0F5A-BA83-4A9C-8A79-82DDA7D330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a55f72-7012-4956-81bf-27932ce3fccd"/>
    <ds:schemaRef ds:uri="bcb55716-5db2-4650-9b03-dc1f6bf718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354</Words>
  <Application>Microsoft Office PowerPoint</Application>
  <PresentationFormat>Grand écran</PresentationFormat>
  <Paragraphs>51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Aptos</vt:lpstr>
      <vt:lpstr>Arial</vt:lpstr>
      <vt:lpstr>Avenir Next LT Pro</vt:lpstr>
      <vt:lpstr>AvenirNext LT Pro Medium</vt:lpstr>
      <vt:lpstr>Rockwell</vt:lpstr>
      <vt:lpstr>Segoe UI</vt:lpstr>
      <vt:lpstr>ExploreVTI</vt:lpstr>
      <vt:lpstr>Système automatisé de gestion d’un passage à niveau</vt:lpstr>
      <vt:lpstr>Matériel utilisé</vt:lpstr>
      <vt:lpstr>Fonctionnement général du système</vt:lpstr>
      <vt:lpstr>Fonctionnement du système: cas 1</vt:lpstr>
      <vt:lpstr>Fonctionnement du système: cas 2</vt:lpstr>
      <vt:lpstr>Fonctionnement du système: cas 3</vt:lpstr>
      <vt:lpstr>Idées d’amélioration du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Auger, Laurianne</dc:creator>
  <cp:lastModifiedBy>Auger, Laurianne</cp:lastModifiedBy>
  <cp:revision>2</cp:revision>
  <dcterms:created xsi:type="dcterms:W3CDTF">2024-11-26T16:55:05Z</dcterms:created>
  <dcterms:modified xsi:type="dcterms:W3CDTF">2024-11-28T00:53:02Z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0x01010036C1DCA7F33E884BB2A25D97881F98CB</vt:lpwstr>
  </property>
</Properties>
</file>